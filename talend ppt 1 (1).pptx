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8" r:id="rId4"/>
    <p:sldId id="257" r:id="rId5"/>
    <p:sldId id="259" r:id="rId6"/>
    <p:sldId id="271" r:id="rId7"/>
    <p:sldId id="261" r:id="rId8"/>
    <p:sldId id="262" r:id="rId9"/>
    <p:sldId id="263" r:id="rId10"/>
    <p:sldId id="264" r:id="rId11"/>
    <p:sldId id="265" r:id="rId12"/>
    <p:sldId id="266" r:id="rId13"/>
    <p:sldId id="267"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94" autoAdjust="0"/>
    <p:restoredTop sz="94660"/>
  </p:normalViewPr>
  <p:slideViewPr>
    <p:cSldViewPr snapToGrid="0">
      <p:cViewPr varScale="1">
        <p:scale>
          <a:sx n="70" d="100"/>
          <a:sy n="70" d="100"/>
        </p:scale>
        <p:origin x="44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E8B981-8DA6-4333-BED5-5A73517E9F1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2269E6F7-D398-4368-8104-B3AF51448337}">
      <dgm:prSet/>
      <dgm:spPr/>
      <dgm:t>
        <a:bodyPr/>
        <a:lstStyle/>
        <a:p>
          <a:pPr>
            <a:lnSpc>
              <a:spcPct val="100000"/>
            </a:lnSpc>
          </a:pPr>
          <a:r>
            <a:rPr lang="en-US"/>
            <a:t>Oracle 11G (Database)</a:t>
          </a:r>
        </a:p>
      </dgm:t>
    </dgm:pt>
    <dgm:pt modelId="{14E2F45C-3EB3-4704-A01F-3352E85B6E90}" type="parTrans" cxnId="{88A88308-2ED0-41EA-A99E-0813652B6873}">
      <dgm:prSet/>
      <dgm:spPr/>
      <dgm:t>
        <a:bodyPr/>
        <a:lstStyle/>
        <a:p>
          <a:endParaRPr lang="en-US"/>
        </a:p>
      </dgm:t>
    </dgm:pt>
    <dgm:pt modelId="{76CCD24F-8C8B-444A-A5B1-AF0C25C0B8A5}" type="sibTrans" cxnId="{88A88308-2ED0-41EA-A99E-0813652B6873}">
      <dgm:prSet/>
      <dgm:spPr/>
      <dgm:t>
        <a:bodyPr/>
        <a:lstStyle/>
        <a:p>
          <a:pPr>
            <a:lnSpc>
              <a:spcPct val="100000"/>
            </a:lnSpc>
          </a:pPr>
          <a:endParaRPr lang="en-US"/>
        </a:p>
      </dgm:t>
    </dgm:pt>
    <dgm:pt modelId="{1A7ABC58-A7B7-408F-A0D2-D7637D3DD29E}">
      <dgm:prSet/>
      <dgm:spPr/>
      <dgm:t>
        <a:bodyPr/>
        <a:lstStyle/>
        <a:p>
          <a:pPr>
            <a:lnSpc>
              <a:spcPct val="100000"/>
            </a:lnSpc>
          </a:pPr>
          <a:r>
            <a:rPr lang="en-US"/>
            <a:t>Talend Studio (ETL Tool) </a:t>
          </a:r>
        </a:p>
      </dgm:t>
    </dgm:pt>
    <dgm:pt modelId="{64197D15-2859-4BD2-A89D-B1BABE9EFAAC}" type="parTrans" cxnId="{0A9C0DCC-DFF9-436B-B37C-05C26B752CFF}">
      <dgm:prSet/>
      <dgm:spPr/>
      <dgm:t>
        <a:bodyPr/>
        <a:lstStyle/>
        <a:p>
          <a:endParaRPr lang="en-US"/>
        </a:p>
      </dgm:t>
    </dgm:pt>
    <dgm:pt modelId="{FDF88116-3392-41E4-BF58-E101D74D06D2}" type="sibTrans" cxnId="{0A9C0DCC-DFF9-436B-B37C-05C26B752CFF}">
      <dgm:prSet/>
      <dgm:spPr/>
      <dgm:t>
        <a:bodyPr/>
        <a:lstStyle/>
        <a:p>
          <a:pPr>
            <a:lnSpc>
              <a:spcPct val="100000"/>
            </a:lnSpc>
          </a:pPr>
          <a:endParaRPr lang="en-US"/>
        </a:p>
      </dgm:t>
    </dgm:pt>
    <dgm:pt modelId="{15B63E91-C002-4FDE-8671-E57011786F46}">
      <dgm:prSet/>
      <dgm:spPr/>
      <dgm:t>
        <a:bodyPr/>
        <a:lstStyle/>
        <a:p>
          <a:pPr>
            <a:lnSpc>
              <a:spcPct val="100000"/>
            </a:lnSpc>
          </a:pPr>
          <a:r>
            <a:rPr lang="en-US"/>
            <a:t>MS-Excel (Reporting Tool)</a:t>
          </a:r>
        </a:p>
      </dgm:t>
    </dgm:pt>
    <dgm:pt modelId="{E43FC850-5B84-4FAD-88AB-AECDDB136C47}" type="parTrans" cxnId="{502FA0A3-CC38-41A7-8C53-399511B205BA}">
      <dgm:prSet/>
      <dgm:spPr/>
      <dgm:t>
        <a:bodyPr/>
        <a:lstStyle/>
        <a:p>
          <a:endParaRPr lang="en-US"/>
        </a:p>
      </dgm:t>
    </dgm:pt>
    <dgm:pt modelId="{F13D8C81-BD0E-4660-8BCA-B05675638C25}" type="sibTrans" cxnId="{502FA0A3-CC38-41A7-8C53-399511B205BA}">
      <dgm:prSet/>
      <dgm:spPr/>
      <dgm:t>
        <a:bodyPr/>
        <a:lstStyle/>
        <a:p>
          <a:endParaRPr lang="en-US"/>
        </a:p>
      </dgm:t>
    </dgm:pt>
    <dgm:pt modelId="{F749BB92-352F-4DBC-A17B-62C542A41CA7}" type="pres">
      <dgm:prSet presAssocID="{9AE8B981-8DA6-4333-BED5-5A73517E9F12}" presName="root" presStyleCnt="0">
        <dgm:presLayoutVars>
          <dgm:dir/>
          <dgm:resizeHandles val="exact"/>
        </dgm:presLayoutVars>
      </dgm:prSet>
      <dgm:spPr/>
    </dgm:pt>
    <dgm:pt modelId="{83042C7A-27B3-432A-B558-F2C9570E50A8}" type="pres">
      <dgm:prSet presAssocID="{9AE8B981-8DA6-4333-BED5-5A73517E9F12}" presName="container" presStyleCnt="0">
        <dgm:presLayoutVars>
          <dgm:dir/>
          <dgm:resizeHandles val="exact"/>
        </dgm:presLayoutVars>
      </dgm:prSet>
      <dgm:spPr/>
    </dgm:pt>
    <dgm:pt modelId="{237B192C-AEC8-446E-BD93-72B403F10D0E}" type="pres">
      <dgm:prSet presAssocID="{2269E6F7-D398-4368-8104-B3AF51448337}" presName="compNode" presStyleCnt="0"/>
      <dgm:spPr/>
    </dgm:pt>
    <dgm:pt modelId="{12133D0F-48A5-4FA4-9348-54315A1EEB7A}" type="pres">
      <dgm:prSet presAssocID="{2269E6F7-D398-4368-8104-B3AF51448337}" presName="iconBgRect" presStyleLbl="bgShp" presStyleIdx="0" presStyleCnt="3"/>
      <dgm:spPr/>
    </dgm:pt>
    <dgm:pt modelId="{D4A2DD08-60EF-4260-B304-D0E2DBBCCF72}" type="pres">
      <dgm:prSet presAssocID="{2269E6F7-D398-4368-8104-B3AF5144833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1096390E-FCE7-423F-A231-E779E82B5EDF}" type="pres">
      <dgm:prSet presAssocID="{2269E6F7-D398-4368-8104-B3AF51448337}" presName="spaceRect" presStyleCnt="0"/>
      <dgm:spPr/>
    </dgm:pt>
    <dgm:pt modelId="{32187121-60BD-4703-A81A-36ACCCD522FA}" type="pres">
      <dgm:prSet presAssocID="{2269E6F7-D398-4368-8104-B3AF51448337}" presName="textRect" presStyleLbl="revTx" presStyleIdx="0" presStyleCnt="3">
        <dgm:presLayoutVars>
          <dgm:chMax val="1"/>
          <dgm:chPref val="1"/>
        </dgm:presLayoutVars>
      </dgm:prSet>
      <dgm:spPr/>
    </dgm:pt>
    <dgm:pt modelId="{44766DFF-2CC5-454B-B4B4-45BBD9293346}" type="pres">
      <dgm:prSet presAssocID="{76CCD24F-8C8B-444A-A5B1-AF0C25C0B8A5}" presName="sibTrans" presStyleLbl="sibTrans2D1" presStyleIdx="0" presStyleCnt="0"/>
      <dgm:spPr/>
    </dgm:pt>
    <dgm:pt modelId="{441D3D97-79F3-4783-843F-07638627D039}" type="pres">
      <dgm:prSet presAssocID="{1A7ABC58-A7B7-408F-A0D2-D7637D3DD29E}" presName="compNode" presStyleCnt="0"/>
      <dgm:spPr/>
    </dgm:pt>
    <dgm:pt modelId="{26B625FB-004E-4606-A0DC-C9FFDE92BC98}" type="pres">
      <dgm:prSet presAssocID="{1A7ABC58-A7B7-408F-A0D2-D7637D3DD29E}" presName="iconBgRect" presStyleLbl="bgShp" presStyleIdx="1" presStyleCnt="3"/>
      <dgm:spPr/>
    </dgm:pt>
    <dgm:pt modelId="{2CBF9CAD-A5C2-4993-A765-108D16492989}" type="pres">
      <dgm:prSet presAssocID="{1A7ABC58-A7B7-408F-A0D2-D7637D3DD29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ools"/>
        </a:ext>
      </dgm:extLst>
    </dgm:pt>
    <dgm:pt modelId="{3F472494-007C-410F-973D-6981CEF57A9A}" type="pres">
      <dgm:prSet presAssocID="{1A7ABC58-A7B7-408F-A0D2-D7637D3DD29E}" presName="spaceRect" presStyleCnt="0"/>
      <dgm:spPr/>
    </dgm:pt>
    <dgm:pt modelId="{9133F6C9-B821-4399-A396-DB2F5F99B2B1}" type="pres">
      <dgm:prSet presAssocID="{1A7ABC58-A7B7-408F-A0D2-D7637D3DD29E}" presName="textRect" presStyleLbl="revTx" presStyleIdx="1" presStyleCnt="3">
        <dgm:presLayoutVars>
          <dgm:chMax val="1"/>
          <dgm:chPref val="1"/>
        </dgm:presLayoutVars>
      </dgm:prSet>
      <dgm:spPr/>
    </dgm:pt>
    <dgm:pt modelId="{ADF8FA0F-9375-4C21-B230-4ABDCDBDF332}" type="pres">
      <dgm:prSet presAssocID="{FDF88116-3392-41E4-BF58-E101D74D06D2}" presName="sibTrans" presStyleLbl="sibTrans2D1" presStyleIdx="0" presStyleCnt="0"/>
      <dgm:spPr/>
    </dgm:pt>
    <dgm:pt modelId="{7312822A-C9D2-4DF8-BEE1-3F37FB8CFC74}" type="pres">
      <dgm:prSet presAssocID="{15B63E91-C002-4FDE-8671-E57011786F46}" presName="compNode" presStyleCnt="0"/>
      <dgm:spPr/>
    </dgm:pt>
    <dgm:pt modelId="{DAF60337-9F10-4F3D-A891-F315773C15F1}" type="pres">
      <dgm:prSet presAssocID="{15B63E91-C002-4FDE-8671-E57011786F46}" presName="iconBgRect" presStyleLbl="bgShp" presStyleIdx="2" presStyleCnt="3"/>
      <dgm:spPr/>
    </dgm:pt>
    <dgm:pt modelId="{C39D0A28-A8E1-41BA-B0D9-01E6077401F0}" type="pres">
      <dgm:prSet presAssocID="{15B63E91-C002-4FDE-8671-E57011786F4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F7BEB1DD-F4AC-4A13-8311-1A28CB349A7A}" type="pres">
      <dgm:prSet presAssocID="{15B63E91-C002-4FDE-8671-E57011786F46}" presName="spaceRect" presStyleCnt="0"/>
      <dgm:spPr/>
    </dgm:pt>
    <dgm:pt modelId="{5D3F3000-5D20-420C-9A20-B3BE8607FA59}" type="pres">
      <dgm:prSet presAssocID="{15B63E91-C002-4FDE-8671-E57011786F46}" presName="textRect" presStyleLbl="revTx" presStyleIdx="2" presStyleCnt="3">
        <dgm:presLayoutVars>
          <dgm:chMax val="1"/>
          <dgm:chPref val="1"/>
        </dgm:presLayoutVars>
      </dgm:prSet>
      <dgm:spPr/>
    </dgm:pt>
  </dgm:ptLst>
  <dgm:cxnLst>
    <dgm:cxn modelId="{C1716005-58D3-400A-B2F6-FB17F39FF643}" type="presOf" srcId="{76CCD24F-8C8B-444A-A5B1-AF0C25C0B8A5}" destId="{44766DFF-2CC5-454B-B4B4-45BBD9293346}" srcOrd="0" destOrd="0" presId="urn:microsoft.com/office/officeart/2018/2/layout/IconCircleList"/>
    <dgm:cxn modelId="{88A88308-2ED0-41EA-A99E-0813652B6873}" srcId="{9AE8B981-8DA6-4333-BED5-5A73517E9F12}" destId="{2269E6F7-D398-4368-8104-B3AF51448337}" srcOrd="0" destOrd="0" parTransId="{14E2F45C-3EB3-4704-A01F-3352E85B6E90}" sibTransId="{76CCD24F-8C8B-444A-A5B1-AF0C25C0B8A5}"/>
    <dgm:cxn modelId="{989F5D7E-3B5F-4144-A43F-F23CC1EA7DC1}" type="presOf" srcId="{1A7ABC58-A7B7-408F-A0D2-D7637D3DD29E}" destId="{9133F6C9-B821-4399-A396-DB2F5F99B2B1}" srcOrd="0" destOrd="0" presId="urn:microsoft.com/office/officeart/2018/2/layout/IconCircleList"/>
    <dgm:cxn modelId="{E4EFDD85-4C0C-4188-B7CD-34E942546EA6}" type="presOf" srcId="{15B63E91-C002-4FDE-8671-E57011786F46}" destId="{5D3F3000-5D20-420C-9A20-B3BE8607FA59}" srcOrd="0" destOrd="0" presId="urn:microsoft.com/office/officeart/2018/2/layout/IconCircleList"/>
    <dgm:cxn modelId="{B6321C91-9320-4C57-B91F-DE2E8D5637A0}" type="presOf" srcId="{FDF88116-3392-41E4-BF58-E101D74D06D2}" destId="{ADF8FA0F-9375-4C21-B230-4ABDCDBDF332}" srcOrd="0" destOrd="0" presId="urn:microsoft.com/office/officeart/2018/2/layout/IconCircleList"/>
    <dgm:cxn modelId="{502FA0A3-CC38-41A7-8C53-399511B205BA}" srcId="{9AE8B981-8DA6-4333-BED5-5A73517E9F12}" destId="{15B63E91-C002-4FDE-8671-E57011786F46}" srcOrd="2" destOrd="0" parTransId="{E43FC850-5B84-4FAD-88AB-AECDDB136C47}" sibTransId="{F13D8C81-BD0E-4660-8BCA-B05675638C25}"/>
    <dgm:cxn modelId="{54DD07C8-B50A-4F46-B25F-720CF4272384}" type="presOf" srcId="{9AE8B981-8DA6-4333-BED5-5A73517E9F12}" destId="{F749BB92-352F-4DBC-A17B-62C542A41CA7}" srcOrd="0" destOrd="0" presId="urn:microsoft.com/office/officeart/2018/2/layout/IconCircleList"/>
    <dgm:cxn modelId="{0A9C0DCC-DFF9-436B-B37C-05C26B752CFF}" srcId="{9AE8B981-8DA6-4333-BED5-5A73517E9F12}" destId="{1A7ABC58-A7B7-408F-A0D2-D7637D3DD29E}" srcOrd="1" destOrd="0" parTransId="{64197D15-2859-4BD2-A89D-B1BABE9EFAAC}" sibTransId="{FDF88116-3392-41E4-BF58-E101D74D06D2}"/>
    <dgm:cxn modelId="{E4F412EF-60AC-4A84-9917-8F745696DDD2}" type="presOf" srcId="{2269E6F7-D398-4368-8104-B3AF51448337}" destId="{32187121-60BD-4703-A81A-36ACCCD522FA}" srcOrd="0" destOrd="0" presId="urn:microsoft.com/office/officeart/2018/2/layout/IconCircleList"/>
    <dgm:cxn modelId="{54925C63-ED74-433E-B9D0-4B6AE63EAAA8}" type="presParOf" srcId="{F749BB92-352F-4DBC-A17B-62C542A41CA7}" destId="{83042C7A-27B3-432A-B558-F2C9570E50A8}" srcOrd="0" destOrd="0" presId="urn:microsoft.com/office/officeart/2018/2/layout/IconCircleList"/>
    <dgm:cxn modelId="{B4982918-8F55-47AC-92AA-74F35BAFFFC8}" type="presParOf" srcId="{83042C7A-27B3-432A-B558-F2C9570E50A8}" destId="{237B192C-AEC8-446E-BD93-72B403F10D0E}" srcOrd="0" destOrd="0" presId="urn:microsoft.com/office/officeart/2018/2/layout/IconCircleList"/>
    <dgm:cxn modelId="{4E90CC82-D0C1-4F6A-9197-DD2127B14455}" type="presParOf" srcId="{237B192C-AEC8-446E-BD93-72B403F10D0E}" destId="{12133D0F-48A5-4FA4-9348-54315A1EEB7A}" srcOrd="0" destOrd="0" presId="urn:microsoft.com/office/officeart/2018/2/layout/IconCircleList"/>
    <dgm:cxn modelId="{80E094DC-2BC5-4304-B30E-F50F9425EEB8}" type="presParOf" srcId="{237B192C-AEC8-446E-BD93-72B403F10D0E}" destId="{D4A2DD08-60EF-4260-B304-D0E2DBBCCF72}" srcOrd="1" destOrd="0" presId="urn:microsoft.com/office/officeart/2018/2/layout/IconCircleList"/>
    <dgm:cxn modelId="{7A08136F-26DE-42AA-A7E4-1B94DF97F10B}" type="presParOf" srcId="{237B192C-AEC8-446E-BD93-72B403F10D0E}" destId="{1096390E-FCE7-423F-A231-E779E82B5EDF}" srcOrd="2" destOrd="0" presId="urn:microsoft.com/office/officeart/2018/2/layout/IconCircleList"/>
    <dgm:cxn modelId="{B41D38BB-DEDE-4470-943D-34D0F9E7B806}" type="presParOf" srcId="{237B192C-AEC8-446E-BD93-72B403F10D0E}" destId="{32187121-60BD-4703-A81A-36ACCCD522FA}" srcOrd="3" destOrd="0" presId="urn:microsoft.com/office/officeart/2018/2/layout/IconCircleList"/>
    <dgm:cxn modelId="{C8BBD095-FC7F-49BA-9A8F-AD574AE6D4E9}" type="presParOf" srcId="{83042C7A-27B3-432A-B558-F2C9570E50A8}" destId="{44766DFF-2CC5-454B-B4B4-45BBD9293346}" srcOrd="1" destOrd="0" presId="urn:microsoft.com/office/officeart/2018/2/layout/IconCircleList"/>
    <dgm:cxn modelId="{F3493C9E-8CD6-4261-93AD-84F49F787247}" type="presParOf" srcId="{83042C7A-27B3-432A-B558-F2C9570E50A8}" destId="{441D3D97-79F3-4783-843F-07638627D039}" srcOrd="2" destOrd="0" presId="urn:microsoft.com/office/officeart/2018/2/layout/IconCircleList"/>
    <dgm:cxn modelId="{C7D0DEBE-957E-40BB-AD67-8FE121BBC348}" type="presParOf" srcId="{441D3D97-79F3-4783-843F-07638627D039}" destId="{26B625FB-004E-4606-A0DC-C9FFDE92BC98}" srcOrd="0" destOrd="0" presId="urn:microsoft.com/office/officeart/2018/2/layout/IconCircleList"/>
    <dgm:cxn modelId="{14C8A668-28FA-4D36-9B3C-B632EFDF2FE5}" type="presParOf" srcId="{441D3D97-79F3-4783-843F-07638627D039}" destId="{2CBF9CAD-A5C2-4993-A765-108D16492989}" srcOrd="1" destOrd="0" presId="urn:microsoft.com/office/officeart/2018/2/layout/IconCircleList"/>
    <dgm:cxn modelId="{E2CFA061-BA2D-41F7-BB03-62B3E2387A5E}" type="presParOf" srcId="{441D3D97-79F3-4783-843F-07638627D039}" destId="{3F472494-007C-410F-973D-6981CEF57A9A}" srcOrd="2" destOrd="0" presId="urn:microsoft.com/office/officeart/2018/2/layout/IconCircleList"/>
    <dgm:cxn modelId="{F8871C0F-048C-4717-8016-B7B1D16818E2}" type="presParOf" srcId="{441D3D97-79F3-4783-843F-07638627D039}" destId="{9133F6C9-B821-4399-A396-DB2F5F99B2B1}" srcOrd="3" destOrd="0" presId="urn:microsoft.com/office/officeart/2018/2/layout/IconCircleList"/>
    <dgm:cxn modelId="{423DC7C1-5E7C-46E0-ADFE-7FC2F4EDFAD2}" type="presParOf" srcId="{83042C7A-27B3-432A-B558-F2C9570E50A8}" destId="{ADF8FA0F-9375-4C21-B230-4ABDCDBDF332}" srcOrd="3" destOrd="0" presId="urn:microsoft.com/office/officeart/2018/2/layout/IconCircleList"/>
    <dgm:cxn modelId="{DCC19969-9CD5-4E3D-8331-5F993374A124}" type="presParOf" srcId="{83042C7A-27B3-432A-B558-F2C9570E50A8}" destId="{7312822A-C9D2-4DF8-BEE1-3F37FB8CFC74}" srcOrd="4" destOrd="0" presId="urn:microsoft.com/office/officeart/2018/2/layout/IconCircleList"/>
    <dgm:cxn modelId="{989FB95B-BA40-4113-991A-0CF11E11624F}" type="presParOf" srcId="{7312822A-C9D2-4DF8-BEE1-3F37FB8CFC74}" destId="{DAF60337-9F10-4F3D-A891-F315773C15F1}" srcOrd="0" destOrd="0" presId="urn:microsoft.com/office/officeart/2018/2/layout/IconCircleList"/>
    <dgm:cxn modelId="{5EAE5C20-0A2C-4989-BF38-73B522AEE02C}" type="presParOf" srcId="{7312822A-C9D2-4DF8-BEE1-3F37FB8CFC74}" destId="{C39D0A28-A8E1-41BA-B0D9-01E6077401F0}" srcOrd="1" destOrd="0" presId="urn:microsoft.com/office/officeart/2018/2/layout/IconCircleList"/>
    <dgm:cxn modelId="{DA54E652-14C6-4E92-AE18-659CE1F4CBE8}" type="presParOf" srcId="{7312822A-C9D2-4DF8-BEE1-3F37FB8CFC74}" destId="{F7BEB1DD-F4AC-4A13-8311-1A28CB349A7A}" srcOrd="2" destOrd="0" presId="urn:microsoft.com/office/officeart/2018/2/layout/IconCircleList"/>
    <dgm:cxn modelId="{15D99555-0DA5-47AE-8D77-24D9CF068682}" type="presParOf" srcId="{7312822A-C9D2-4DF8-BEE1-3F37FB8CFC74}" destId="{5D3F3000-5D20-420C-9A20-B3BE8607FA5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133D0F-48A5-4FA4-9348-54315A1EEB7A}">
      <dsp:nvSpPr>
        <dsp:cNvPr id="0" name=""/>
        <dsp:cNvSpPr/>
      </dsp:nvSpPr>
      <dsp:spPr>
        <a:xfrm>
          <a:off x="82613" y="130245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A2DD08-60EF-4260-B304-D0E2DBBCCF72}">
      <dsp:nvSpPr>
        <dsp:cNvPr id="0" name=""/>
        <dsp:cNvSpPr/>
      </dsp:nvSpPr>
      <dsp:spPr>
        <a:xfrm>
          <a:off x="271034" y="1490874"/>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187121-60BD-4703-A81A-36ACCCD522FA}">
      <dsp:nvSpPr>
        <dsp:cNvPr id="0" name=""/>
        <dsp:cNvSpPr/>
      </dsp:nvSpPr>
      <dsp:spPr>
        <a:xfrm>
          <a:off x="1172126" y="130245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Oracle 11G (Database)</a:t>
          </a:r>
        </a:p>
      </dsp:txBody>
      <dsp:txXfrm>
        <a:off x="1172126" y="1302452"/>
        <a:ext cx="2114937" cy="897246"/>
      </dsp:txXfrm>
    </dsp:sp>
    <dsp:sp modelId="{26B625FB-004E-4606-A0DC-C9FFDE92BC98}">
      <dsp:nvSpPr>
        <dsp:cNvPr id="0" name=""/>
        <dsp:cNvSpPr/>
      </dsp:nvSpPr>
      <dsp:spPr>
        <a:xfrm>
          <a:off x="3655575" y="130245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BF9CAD-A5C2-4993-A765-108D16492989}">
      <dsp:nvSpPr>
        <dsp:cNvPr id="0" name=""/>
        <dsp:cNvSpPr/>
      </dsp:nvSpPr>
      <dsp:spPr>
        <a:xfrm>
          <a:off x="3843996" y="1490874"/>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33F6C9-B821-4399-A396-DB2F5F99B2B1}">
      <dsp:nvSpPr>
        <dsp:cNvPr id="0" name=""/>
        <dsp:cNvSpPr/>
      </dsp:nvSpPr>
      <dsp:spPr>
        <a:xfrm>
          <a:off x="4745088" y="130245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Talend Studio (ETL Tool) </a:t>
          </a:r>
        </a:p>
      </dsp:txBody>
      <dsp:txXfrm>
        <a:off x="4745088" y="1302452"/>
        <a:ext cx="2114937" cy="897246"/>
      </dsp:txXfrm>
    </dsp:sp>
    <dsp:sp modelId="{DAF60337-9F10-4F3D-A891-F315773C15F1}">
      <dsp:nvSpPr>
        <dsp:cNvPr id="0" name=""/>
        <dsp:cNvSpPr/>
      </dsp:nvSpPr>
      <dsp:spPr>
        <a:xfrm>
          <a:off x="7228536" y="130245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9D0A28-A8E1-41BA-B0D9-01E6077401F0}">
      <dsp:nvSpPr>
        <dsp:cNvPr id="0" name=""/>
        <dsp:cNvSpPr/>
      </dsp:nvSpPr>
      <dsp:spPr>
        <a:xfrm>
          <a:off x="7416958" y="1490874"/>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3F3000-5D20-420C-9A20-B3BE8607FA59}">
      <dsp:nvSpPr>
        <dsp:cNvPr id="0" name=""/>
        <dsp:cNvSpPr/>
      </dsp:nvSpPr>
      <dsp:spPr>
        <a:xfrm>
          <a:off x="8318049" y="130245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MS-Excel (Reporting Tool)</a:t>
          </a:r>
        </a:p>
      </dsp:txBody>
      <dsp:txXfrm>
        <a:off x="8318049" y="130245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D0A6D-6999-AC4B-FBB8-134EEC42F1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6FF736-42E0-2C75-2645-4A2FDD855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2A184A-3DB4-69FC-3A89-86A56E9CCB7E}"/>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5" name="Footer Placeholder 4">
            <a:extLst>
              <a:ext uri="{FF2B5EF4-FFF2-40B4-BE49-F238E27FC236}">
                <a16:creationId xmlns:a16="http://schemas.microsoft.com/office/drawing/2014/main" id="{5B9748D3-4618-2704-950C-1115BE8B0E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3F7D74-F0B6-B47C-E89C-173456294EDA}"/>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843259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C7999-B6B3-6096-FD6A-46F24CA5C7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46AED4-4119-6A6B-4860-4F7AE2DF58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0A70C2-CE7E-02EB-4ABF-2B8457E70C23}"/>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5" name="Footer Placeholder 4">
            <a:extLst>
              <a:ext uri="{FF2B5EF4-FFF2-40B4-BE49-F238E27FC236}">
                <a16:creationId xmlns:a16="http://schemas.microsoft.com/office/drawing/2014/main" id="{55FA9179-AF90-298B-7EA6-2FA25C53ED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F42AD5-6E94-5F66-D2FC-0C255E268A62}"/>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221002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99D2E-095E-E1E4-5D7C-9F1C6B08DD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DCAF8FF-2C9D-354E-D247-1F06010395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42221-7EB7-89AA-BE35-FC393576EE21}"/>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5" name="Footer Placeholder 4">
            <a:extLst>
              <a:ext uri="{FF2B5EF4-FFF2-40B4-BE49-F238E27FC236}">
                <a16:creationId xmlns:a16="http://schemas.microsoft.com/office/drawing/2014/main" id="{4349C84E-E5BA-4FE4-5BB2-AAE835DBD4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545458-6A88-868F-CF8A-1BF45370B3CA}"/>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205096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A3A68-658A-AC4B-229D-A3C1F0E34E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3F8241-A7BE-5ACB-8155-F0FED414EA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5CBA77-F56A-1977-45CD-F3F761D5B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391DF2F-4EA6-4640-F52F-8947F107E0F0}"/>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6" name="Footer Placeholder 5">
            <a:extLst>
              <a:ext uri="{FF2B5EF4-FFF2-40B4-BE49-F238E27FC236}">
                <a16:creationId xmlns:a16="http://schemas.microsoft.com/office/drawing/2014/main" id="{878A411B-1F2B-BB3D-BAC8-A10CC40944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289660-1B69-1441-28DD-2C9A7BCB1695}"/>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74729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DFB1A-2D84-AB90-CEB7-9CF1BECBFD7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404690-E990-B5B7-0575-C1380C39B5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D60A37-0DF9-888D-B747-023B9FB1D4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E64072C-E465-2F01-400D-E78F67AE27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72BFFD-6EE6-7E31-2B73-3DCEDC34F3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8D0F7-262F-EA12-6519-F54A2F383189}"/>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8" name="Footer Placeholder 7">
            <a:extLst>
              <a:ext uri="{FF2B5EF4-FFF2-40B4-BE49-F238E27FC236}">
                <a16:creationId xmlns:a16="http://schemas.microsoft.com/office/drawing/2014/main" id="{BDFE9FCA-F2EC-E61E-6FCB-0CA4F67101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7EA164-2226-2F94-041F-1D839B7B649E}"/>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3329912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7F6A-BE8B-52B6-57AE-BCB55705AE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0842600-B77E-D07A-70F1-885479004F68}"/>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4" name="Footer Placeholder 3">
            <a:extLst>
              <a:ext uri="{FF2B5EF4-FFF2-40B4-BE49-F238E27FC236}">
                <a16:creationId xmlns:a16="http://schemas.microsoft.com/office/drawing/2014/main" id="{44F36BF7-39FD-523F-3B06-4E6130957C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A5C7D4-0C9C-BA3E-2FB0-9F46885B0C1E}"/>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1816438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0E07B-874E-FE17-CC9D-9302EE4D9BFE}"/>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3" name="Footer Placeholder 2">
            <a:extLst>
              <a:ext uri="{FF2B5EF4-FFF2-40B4-BE49-F238E27FC236}">
                <a16:creationId xmlns:a16="http://schemas.microsoft.com/office/drawing/2014/main" id="{74DD8C37-D262-A4BD-C707-E14BDE95BE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955EA2E-99D0-0028-2620-CD569937AFC0}"/>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4199941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A5F19-E447-A1B5-0AFD-8F273E86FE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8D4B440-D741-43BE-16A0-D1D5A3950A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4905D0-B171-109C-1257-A26DDE7C54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DDD8F-C2F3-2912-38C8-75BFCFAFBCDC}"/>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6" name="Footer Placeholder 5">
            <a:extLst>
              <a:ext uri="{FF2B5EF4-FFF2-40B4-BE49-F238E27FC236}">
                <a16:creationId xmlns:a16="http://schemas.microsoft.com/office/drawing/2014/main" id="{D1E29FA5-EDCA-77CF-9652-C03498B9C9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07562A-B220-464F-ECD1-192AC7A522C8}"/>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1310171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BDC11-9033-05A3-5380-E19CB50060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D28459A-3190-AEBA-6221-9FC450C5DF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381439-E2CB-513D-2249-5F03D27A7C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8BC37-85EB-1787-BB56-2BA2AB22881B}"/>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6" name="Footer Placeholder 5">
            <a:extLst>
              <a:ext uri="{FF2B5EF4-FFF2-40B4-BE49-F238E27FC236}">
                <a16:creationId xmlns:a16="http://schemas.microsoft.com/office/drawing/2014/main" id="{AB45C8EF-9860-93EA-DF26-293B362D85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ADCE7B-1FDE-D21F-CA7B-CBC4318E0303}"/>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390721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E0B4D-C44A-772C-322B-B9C622FA6DD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D66A0A-F15E-CF54-0B6D-9576F761EE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DB499B-1941-93D1-5B82-D58C9D5E868E}"/>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5" name="Footer Placeholder 4">
            <a:extLst>
              <a:ext uri="{FF2B5EF4-FFF2-40B4-BE49-F238E27FC236}">
                <a16:creationId xmlns:a16="http://schemas.microsoft.com/office/drawing/2014/main" id="{CD2E2959-2279-B0C9-2011-1BF7415DA5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2DD268-B63E-A8B0-C5A9-AC199D75CA5B}"/>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2077136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7DDD7-42F1-CA4B-95CF-C0F9F4B857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7782FD-577E-55DB-4069-821513F440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871BC6-085A-8255-296C-61DECB42C701}"/>
              </a:ext>
            </a:extLst>
          </p:cNvPr>
          <p:cNvSpPr>
            <a:spLocks noGrp="1"/>
          </p:cNvSpPr>
          <p:nvPr>
            <p:ph type="dt" sz="half" idx="10"/>
          </p:nvPr>
        </p:nvSpPr>
        <p:spPr/>
        <p:txBody>
          <a:bodyPr/>
          <a:lstStyle/>
          <a:p>
            <a:fld id="{129BD669-1E36-4401-ADF7-01CC55AC0B29}" type="datetimeFigureOut">
              <a:rPr lang="en-IN" smtClean="0"/>
              <a:t>19-02-2026</a:t>
            </a:fld>
            <a:endParaRPr lang="en-IN"/>
          </a:p>
        </p:txBody>
      </p:sp>
      <p:sp>
        <p:nvSpPr>
          <p:cNvPr id="5" name="Footer Placeholder 4">
            <a:extLst>
              <a:ext uri="{FF2B5EF4-FFF2-40B4-BE49-F238E27FC236}">
                <a16:creationId xmlns:a16="http://schemas.microsoft.com/office/drawing/2014/main" id="{FC844B09-5AF9-5DB2-E6D9-C9D35D31D0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DA8E9-2586-9548-29DA-B1C91DB9329C}"/>
              </a:ext>
            </a:extLst>
          </p:cNvPr>
          <p:cNvSpPr>
            <a:spLocks noGrp="1"/>
          </p:cNvSpPr>
          <p:nvPr>
            <p:ph type="sldNum" sz="quarter" idx="12"/>
          </p:nvPr>
        </p:nvSpPr>
        <p:spPr/>
        <p:txBody>
          <a:bodyPr/>
          <a:lstStyle/>
          <a:p>
            <a:fld id="{7E59742B-F892-4E74-924B-DFA07D6E452A}" type="slidenum">
              <a:rPr lang="en-IN" smtClean="0"/>
              <a:t>‹#›</a:t>
            </a:fld>
            <a:endParaRPr lang="en-IN"/>
          </a:p>
        </p:txBody>
      </p:sp>
    </p:spTree>
    <p:extLst>
      <p:ext uri="{BB962C8B-B14F-4D97-AF65-F5344CB8AC3E}">
        <p14:creationId xmlns:p14="http://schemas.microsoft.com/office/powerpoint/2010/main" val="228048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261175-20F7-ADC7-E146-0D440DCC14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C1DBF0-FFEC-6B37-BE5D-72840CAF4A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559142-01BC-A812-A575-3D65E64243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9BD669-1E36-4401-ADF7-01CC55AC0B29}" type="datetimeFigureOut">
              <a:rPr lang="en-IN" smtClean="0"/>
              <a:t>19-02-2026</a:t>
            </a:fld>
            <a:endParaRPr lang="en-IN"/>
          </a:p>
        </p:txBody>
      </p:sp>
      <p:sp>
        <p:nvSpPr>
          <p:cNvPr id="5" name="Footer Placeholder 4">
            <a:extLst>
              <a:ext uri="{FF2B5EF4-FFF2-40B4-BE49-F238E27FC236}">
                <a16:creationId xmlns:a16="http://schemas.microsoft.com/office/drawing/2014/main" id="{15E2F1F4-7648-0803-8A20-E65EB9A15B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CA80BA1-D204-4290-2F93-83D06EB85F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59742B-F892-4E74-924B-DFA07D6E452A}" type="slidenum">
              <a:rPr lang="en-IN" smtClean="0"/>
              <a:t>‹#›</a:t>
            </a:fld>
            <a:endParaRPr lang="en-IN"/>
          </a:p>
        </p:txBody>
      </p:sp>
    </p:spTree>
    <p:extLst>
      <p:ext uri="{BB962C8B-B14F-4D97-AF65-F5344CB8AC3E}">
        <p14:creationId xmlns:p14="http://schemas.microsoft.com/office/powerpoint/2010/main" val="432684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2677D1-6633-F8F7-CD6E-CAEC21396944}"/>
              </a:ext>
            </a:extLst>
          </p:cNvPr>
          <p:cNvSpPr>
            <a:spLocks noGrp="1"/>
          </p:cNvSpPr>
          <p:nvPr>
            <p:ph type="ctrTitle"/>
          </p:nvPr>
        </p:nvSpPr>
        <p:spPr>
          <a:xfrm>
            <a:off x="2197101" y="735283"/>
            <a:ext cx="4978399" cy="3165045"/>
          </a:xfrm>
        </p:spPr>
        <p:txBody>
          <a:bodyPr anchor="b">
            <a:normAutofit fontScale="90000"/>
          </a:bodyPr>
          <a:lstStyle/>
          <a:p>
            <a:pPr algn="l"/>
            <a:br>
              <a:rPr lang="en-US" sz="4400" b="1" dirty="0"/>
            </a:br>
            <a:br>
              <a:rPr lang="en-IN" sz="4400" b="1" dirty="0"/>
            </a:br>
            <a:r>
              <a:rPr lang="en-IN" sz="5300" b="1" dirty="0"/>
              <a:t>BI </a:t>
            </a:r>
            <a:r>
              <a:rPr lang="en-US" sz="5300" b="1" dirty="0"/>
              <a:t>Mini Project</a:t>
            </a:r>
            <a:br>
              <a:rPr lang="en-IN" sz="4400" b="1" dirty="0"/>
            </a:br>
            <a:r>
              <a:rPr lang="en-US" sz="4400" dirty="0"/>
              <a:t>Zomato Restaurant Rating Analysis</a:t>
            </a:r>
            <a:endParaRPr lang="en-IN" sz="4400" dirty="0"/>
          </a:p>
        </p:txBody>
      </p:sp>
      <p:sp>
        <p:nvSpPr>
          <p:cNvPr id="3" name="Subtitle 2">
            <a:extLst>
              <a:ext uri="{FF2B5EF4-FFF2-40B4-BE49-F238E27FC236}">
                <a16:creationId xmlns:a16="http://schemas.microsoft.com/office/drawing/2014/main" id="{66381238-EB30-7400-E46C-5C566B14B349}"/>
              </a:ext>
            </a:extLst>
          </p:cNvPr>
          <p:cNvSpPr>
            <a:spLocks noGrp="1"/>
          </p:cNvSpPr>
          <p:nvPr>
            <p:ph type="subTitle" idx="1"/>
          </p:nvPr>
        </p:nvSpPr>
        <p:spPr>
          <a:xfrm>
            <a:off x="2197101" y="4202830"/>
            <a:ext cx="4978399" cy="1841354"/>
          </a:xfrm>
        </p:spPr>
        <p:txBody>
          <a:bodyPr>
            <a:normAutofit fontScale="70000" lnSpcReduction="20000"/>
          </a:bodyPr>
          <a:lstStyle/>
          <a:p>
            <a:pPr algn="l"/>
            <a:endParaRPr lang="en-IN" dirty="0"/>
          </a:p>
          <a:p>
            <a:pPr marL="342900" indent="-342900" algn="l">
              <a:buFontTx/>
              <a:buChar char="-"/>
            </a:pPr>
            <a:r>
              <a:rPr lang="en-IN" dirty="0"/>
              <a:t>Shrushti Mahesh Patil</a:t>
            </a:r>
          </a:p>
          <a:p>
            <a:pPr marL="342900" indent="-342900" algn="l">
              <a:buFontTx/>
              <a:buChar char="-"/>
            </a:pPr>
            <a:r>
              <a:rPr lang="en-IN" dirty="0"/>
              <a:t>Shreya Satish Herwade</a:t>
            </a:r>
          </a:p>
          <a:p>
            <a:pPr marL="342900" indent="-342900" algn="l">
              <a:buFontTx/>
              <a:buChar char="-"/>
            </a:pPr>
            <a:r>
              <a:rPr lang="en-IN" dirty="0"/>
              <a:t>Komera Chaitanya Sravanthi</a:t>
            </a:r>
          </a:p>
          <a:p>
            <a:pPr marL="342900" indent="-342900" algn="l">
              <a:buFontTx/>
              <a:buChar char="-"/>
            </a:pPr>
            <a:r>
              <a:rPr lang="en-IN" dirty="0"/>
              <a:t>Sampriti Dhal</a:t>
            </a:r>
          </a:p>
          <a:p>
            <a:pPr marL="342900" indent="-342900" algn="l">
              <a:buFontTx/>
              <a:buChar char="-"/>
            </a:pPr>
            <a:r>
              <a:rPr lang="en-IN" dirty="0"/>
              <a:t>Komal</a:t>
            </a:r>
          </a:p>
          <a:p>
            <a:pPr algn="l"/>
            <a:endParaRPr lang="en-IN" dirty="0"/>
          </a:p>
        </p:txBody>
      </p:sp>
      <p:pic>
        <p:nvPicPr>
          <p:cNvPr id="7" name="Graphic 6" descr="Bar chart">
            <a:extLst>
              <a:ext uri="{FF2B5EF4-FFF2-40B4-BE49-F238E27FC236}">
                <a16:creationId xmlns:a16="http://schemas.microsoft.com/office/drawing/2014/main" id="{AEE2898A-8D5E-F97F-F50E-73F6BBA2A1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Bar chart">
            <a:extLst>
              <a:ext uri="{FF2B5EF4-FFF2-40B4-BE49-F238E27FC236}">
                <a16:creationId xmlns:a16="http://schemas.microsoft.com/office/drawing/2014/main" id="{5F60DFD4-CD23-4A84-8E84-F2AA6ECAF6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3179260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8B05D0-D4B5-F4F7-D688-BD6C789739A3}"/>
              </a:ext>
            </a:extLst>
          </p:cNvPr>
          <p:cNvSpPr>
            <a:spLocks noGrp="1"/>
          </p:cNvSpPr>
          <p:nvPr>
            <p:ph type="title"/>
          </p:nvPr>
        </p:nvSpPr>
        <p:spPr>
          <a:xfrm>
            <a:off x="1075767" y="1188637"/>
            <a:ext cx="2988234" cy="4480726"/>
          </a:xfrm>
        </p:spPr>
        <p:txBody>
          <a:bodyPr>
            <a:normAutofit/>
          </a:bodyPr>
          <a:lstStyle/>
          <a:p>
            <a:pPr algn="r"/>
            <a:r>
              <a:rPr lang="en-IN" sz="5600"/>
              <a:t>Objective of the Project</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0D6C87B-61D2-AB5F-CD2F-528C0A8EEAF2}"/>
              </a:ext>
            </a:extLst>
          </p:cNvPr>
          <p:cNvSpPr>
            <a:spLocks noGrp="1"/>
          </p:cNvSpPr>
          <p:nvPr>
            <p:ph idx="1"/>
          </p:nvPr>
        </p:nvSpPr>
        <p:spPr>
          <a:xfrm>
            <a:off x="5255260" y="1648870"/>
            <a:ext cx="4702848" cy="3560260"/>
          </a:xfrm>
        </p:spPr>
        <p:txBody>
          <a:bodyPr anchor="ctr">
            <a:normAutofit/>
          </a:bodyPr>
          <a:lstStyle/>
          <a:p>
            <a:r>
              <a:rPr lang="en-US" sz="2400"/>
              <a:t>Development of a </a:t>
            </a:r>
            <a:r>
              <a:rPr lang="en-US" sz="2400" b="1"/>
              <a:t>Zomato Restaurant Rating Analysis.</a:t>
            </a:r>
            <a:endParaRPr lang="en-IN" sz="2400"/>
          </a:p>
          <a:p>
            <a:endParaRPr lang="en-IN" sz="2400"/>
          </a:p>
        </p:txBody>
      </p:sp>
    </p:spTree>
    <p:extLst>
      <p:ext uri="{BB962C8B-B14F-4D97-AF65-F5344CB8AC3E}">
        <p14:creationId xmlns:p14="http://schemas.microsoft.com/office/powerpoint/2010/main" val="3650468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272D65-F68E-943F-A107-FE77C98262DC}"/>
              </a:ext>
            </a:extLst>
          </p:cNvPr>
          <p:cNvSpPr>
            <a:spLocks noGrp="1"/>
          </p:cNvSpPr>
          <p:nvPr>
            <p:ph type="title"/>
          </p:nvPr>
        </p:nvSpPr>
        <p:spPr>
          <a:xfrm>
            <a:off x="1043631" y="809898"/>
            <a:ext cx="9942716" cy="1554480"/>
          </a:xfrm>
        </p:spPr>
        <p:txBody>
          <a:bodyPr anchor="ctr">
            <a:normAutofit/>
          </a:bodyPr>
          <a:lstStyle/>
          <a:p>
            <a:r>
              <a:rPr lang="en-IN" sz="4800" b="1" dirty="0"/>
              <a:t>Abstract of the Project</a:t>
            </a:r>
          </a:p>
        </p:txBody>
      </p:sp>
      <p:sp>
        <p:nvSpPr>
          <p:cNvPr id="3" name="Content Placeholder 2">
            <a:extLst>
              <a:ext uri="{FF2B5EF4-FFF2-40B4-BE49-F238E27FC236}">
                <a16:creationId xmlns:a16="http://schemas.microsoft.com/office/drawing/2014/main" id="{37AC7927-BFD3-3D9E-17F0-3DB2773CB853}"/>
              </a:ext>
            </a:extLst>
          </p:cNvPr>
          <p:cNvSpPr>
            <a:spLocks noGrp="1"/>
          </p:cNvSpPr>
          <p:nvPr>
            <p:ph idx="1"/>
          </p:nvPr>
        </p:nvSpPr>
        <p:spPr>
          <a:xfrm>
            <a:off x="1045028" y="3017522"/>
            <a:ext cx="9941319" cy="3124658"/>
          </a:xfrm>
        </p:spPr>
        <p:txBody>
          <a:bodyPr anchor="ctr">
            <a:normAutofit/>
          </a:bodyPr>
          <a:lstStyle/>
          <a:p>
            <a:pPr marL="0" indent="0">
              <a:buNone/>
            </a:pPr>
            <a:endParaRPr lang="en-IN" sz="1900" b="1" cap="small" dirty="0"/>
          </a:p>
          <a:p>
            <a:r>
              <a:rPr lang="en-US" sz="1900" dirty="0"/>
              <a:t>The culinary in India is as varied as its culture. On every 10 kilometers of distance we find the variety in food. With increasing technology we order food online. Amongst all the food applications Zomato is one which is very widely used. </a:t>
            </a:r>
          </a:p>
          <a:p>
            <a:pPr marL="0" indent="0">
              <a:buNone/>
            </a:pPr>
            <a:endParaRPr lang="en-IN" sz="1900" dirty="0"/>
          </a:p>
          <a:p>
            <a:r>
              <a:rPr lang="en-US" sz="1900" dirty="0"/>
              <a:t>The purpose of this project is to analyze which restaurant is popular in a particular locality of a particular city. It collects the data on various attributes like City, Cuisines, rating in number, rating in text, Average cost of two person, availability of table and online booking. There are 13 prime cities of India, 226 restaurants with 28 different cuisines spread across 137 different localities of these cities. </a:t>
            </a:r>
            <a:endParaRPr lang="en-IN" sz="1900" dirty="0"/>
          </a:p>
          <a:p>
            <a:endParaRPr lang="en-IN" sz="19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6603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51F13-964C-DEB8-E41F-3D8D800B610B}"/>
              </a:ext>
            </a:extLst>
          </p:cNvPr>
          <p:cNvSpPr>
            <a:spLocks noGrp="1"/>
          </p:cNvSpPr>
          <p:nvPr>
            <p:ph type="title"/>
          </p:nvPr>
        </p:nvSpPr>
        <p:spPr>
          <a:xfrm>
            <a:off x="838200" y="914400"/>
            <a:ext cx="10515600" cy="1188720"/>
          </a:xfrm>
        </p:spPr>
        <p:txBody>
          <a:bodyPr>
            <a:normAutofit/>
          </a:bodyPr>
          <a:lstStyle/>
          <a:p>
            <a:r>
              <a:rPr lang="en-IN" sz="4800" b="1" dirty="0"/>
              <a:t>Technology Used</a:t>
            </a:r>
          </a:p>
        </p:txBody>
      </p:sp>
      <p:graphicFrame>
        <p:nvGraphicFramePr>
          <p:cNvPr id="5" name="Content Placeholder 2">
            <a:extLst>
              <a:ext uri="{FF2B5EF4-FFF2-40B4-BE49-F238E27FC236}">
                <a16:creationId xmlns:a16="http://schemas.microsoft.com/office/drawing/2014/main" id="{8BCA9EDA-9889-76CE-1629-74EAE6242E32}"/>
              </a:ext>
            </a:extLst>
          </p:cNvPr>
          <p:cNvGraphicFramePr>
            <a:graphicFrameLocks noGrp="1"/>
          </p:cNvGraphicFramePr>
          <p:nvPr>
            <p:ph idx="1"/>
            <p:extLst>
              <p:ext uri="{D42A27DB-BD31-4B8C-83A1-F6EECF244321}">
                <p14:modId xmlns:p14="http://schemas.microsoft.com/office/powerpoint/2010/main" val="4131317457"/>
              </p:ext>
            </p:extLst>
          </p:nvPr>
        </p:nvGraphicFramePr>
        <p:xfrm>
          <a:off x="838200" y="2167128"/>
          <a:ext cx="10515600" cy="3502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792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CEEFD6D4-3798-40F4-5B8E-ED29AE369F03}"/>
              </a:ext>
            </a:extLst>
          </p:cNvPr>
          <p:cNvSpPr>
            <a:spLocks noChangeArrowheads="1"/>
          </p:cNvSpPr>
          <p:nvPr/>
        </p:nvSpPr>
        <p:spPr bwMode="auto">
          <a:xfrm>
            <a:off x="354330" y="873428"/>
            <a:ext cx="1183767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Arial" panose="020B0604020202020204" pitchFamily="34" charset="0"/>
              </a:rPr>
              <a:t>        Project flow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3" name="Canvas 20">
            <a:extLst>
              <a:ext uri="{FF2B5EF4-FFF2-40B4-BE49-F238E27FC236}">
                <a16:creationId xmlns:a16="http://schemas.microsoft.com/office/drawing/2014/main" id="{C2A80D8F-D579-0E8D-29DD-8F9D670D5049}"/>
              </a:ext>
            </a:extLst>
          </p:cNvPr>
          <p:cNvGrpSpPr/>
          <p:nvPr/>
        </p:nvGrpSpPr>
        <p:grpSpPr>
          <a:xfrm>
            <a:off x="1396093" y="2177144"/>
            <a:ext cx="8698230" cy="3242851"/>
            <a:chOff x="0" y="0"/>
            <a:chExt cx="5486400" cy="2286000"/>
          </a:xfrm>
        </p:grpSpPr>
        <p:sp>
          <p:nvSpPr>
            <p:cNvPr id="4" name="Rectangle 3">
              <a:extLst>
                <a:ext uri="{FF2B5EF4-FFF2-40B4-BE49-F238E27FC236}">
                  <a16:creationId xmlns:a16="http://schemas.microsoft.com/office/drawing/2014/main" id="{C36E4802-7EA6-48EB-D1BF-436DFE1410A9}"/>
                </a:ext>
              </a:extLst>
            </p:cNvPr>
            <p:cNvSpPr/>
            <p:nvPr/>
          </p:nvSpPr>
          <p:spPr>
            <a:xfrm>
              <a:off x="0" y="0"/>
              <a:ext cx="5486400" cy="2286000"/>
            </a:xfrm>
            <a:prstGeom prst="rect">
              <a:avLst/>
            </a:prstGeom>
            <a:noFill/>
            <a:ln>
              <a:noFill/>
            </a:ln>
          </p:spPr>
          <p:txBody>
            <a:bodyPr/>
            <a:lstStyle/>
            <a:p>
              <a:endParaRPr lang="en-IN"/>
            </a:p>
          </p:txBody>
        </p:sp>
        <p:sp>
          <p:nvSpPr>
            <p:cNvPr id="5" name="AutoShape 4">
              <a:extLst>
                <a:ext uri="{FF2B5EF4-FFF2-40B4-BE49-F238E27FC236}">
                  <a16:creationId xmlns:a16="http://schemas.microsoft.com/office/drawing/2014/main" id="{5C252679-ADBF-314C-5460-281CD4843DA1}"/>
                </a:ext>
              </a:extLst>
            </p:cNvPr>
            <p:cNvSpPr>
              <a:spLocks noChangeArrowheads="1"/>
            </p:cNvSpPr>
            <p:nvPr/>
          </p:nvSpPr>
          <p:spPr bwMode="auto">
            <a:xfrm>
              <a:off x="4526280" y="114233"/>
              <a:ext cx="960120" cy="2103316"/>
            </a:xfrm>
            <a:prstGeom prst="flowChartMultidocument">
              <a:avLst/>
            </a:prstGeom>
            <a:gradFill rotWithShape="1">
              <a:gsLst>
                <a:gs pos="0">
                  <a:srgbClr val="00CC66">
                    <a:gamma/>
                    <a:shade val="46275"/>
                    <a:invGamma/>
                  </a:srgbClr>
                </a:gs>
                <a:gs pos="50000">
                  <a:srgbClr val="00CC66"/>
                </a:gs>
                <a:gs pos="100000">
                  <a:srgbClr val="00CC66">
                    <a:gamma/>
                    <a:shade val="46275"/>
                    <a:invGamma/>
                  </a:srgbClr>
                </a:gs>
              </a:gsLst>
              <a:lin ang="54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endParaRPr lang="en-IN"/>
            </a:p>
          </p:txBody>
        </p:sp>
        <p:sp>
          <p:nvSpPr>
            <p:cNvPr id="6" name="Documents">
              <a:extLst>
                <a:ext uri="{FF2B5EF4-FFF2-40B4-BE49-F238E27FC236}">
                  <a16:creationId xmlns:a16="http://schemas.microsoft.com/office/drawing/2014/main" id="{D03DF485-89EE-1CEC-2A71-211061CB8F4F}"/>
                </a:ext>
              </a:extLst>
            </p:cNvPr>
            <p:cNvSpPr>
              <a:spLocks noEditPoints="1" noChangeArrowheads="1"/>
            </p:cNvSpPr>
            <p:nvPr/>
          </p:nvSpPr>
          <p:spPr bwMode="auto">
            <a:xfrm>
              <a:off x="0" y="182684"/>
              <a:ext cx="1097280" cy="2011751"/>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gradFill rotWithShape="1">
              <a:gsLst>
                <a:gs pos="0">
                  <a:srgbClr val="333399"/>
                </a:gs>
                <a:gs pos="50000">
                  <a:srgbClr val="FFFFFF"/>
                </a:gs>
                <a:gs pos="100000">
                  <a:srgbClr val="333399"/>
                </a:gs>
              </a:gsLst>
              <a:lin ang="5400000" scaled="1"/>
            </a:gradFill>
            <a:ln w="9525">
              <a:solidFill>
                <a:srgbClr val="000000"/>
              </a:solidFill>
              <a:miter lim="800000"/>
              <a:headEnd/>
              <a:tailEnd/>
            </a:ln>
            <a:effectLst>
              <a:outerShdw dist="107763" dir="2700000" algn="ctr" rotWithShape="0">
                <a:srgbClr val="808080"/>
              </a:outerShdw>
            </a:effectLst>
          </p:spPr>
          <p:txBody>
            <a:bodyPr rot="0" vert="horz" wrap="square" lIns="91440" tIns="45720" rIns="91440" bIns="45720" anchor="t" anchorCtr="0" upright="1">
              <a:noAutofit/>
            </a:bodyPr>
            <a:lstStyle/>
            <a:p>
              <a:endParaRPr lang="en-IN"/>
            </a:p>
          </p:txBody>
        </p:sp>
        <p:sp>
          <p:nvSpPr>
            <p:cNvPr id="7" name="Text Box 6">
              <a:extLst>
                <a:ext uri="{FF2B5EF4-FFF2-40B4-BE49-F238E27FC236}">
                  <a16:creationId xmlns:a16="http://schemas.microsoft.com/office/drawing/2014/main" id="{42260E9A-C9E3-5485-DCED-72F70D13CDF1}"/>
                </a:ext>
              </a:extLst>
            </p:cNvPr>
            <p:cNvSpPr txBox="1">
              <a:spLocks noChangeArrowheads="1"/>
            </p:cNvSpPr>
            <p:nvPr/>
          </p:nvSpPr>
          <p:spPr bwMode="auto">
            <a:xfrm>
              <a:off x="0" y="914311"/>
              <a:ext cx="1052068" cy="892429"/>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1100">
                  <a:solidFill>
                    <a:srgbClr val="000000"/>
                  </a:solidFill>
                  <a:effectLst/>
                  <a:latin typeface="Calibri" panose="020F0502020204030204" pitchFamily="34" charset="0"/>
                  <a:ea typeface="Calibri" panose="020F0502020204030204" pitchFamily="34" charset="0"/>
                  <a:cs typeface="Arial" panose="020B0604020202020204" pitchFamily="34" charset="0"/>
                </a:rPr>
                <a:t>Heterogeneous Sources i.e. operational data (Flat files)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03920323-2BDD-9C58-0E32-0D04C7F0951F}"/>
                </a:ext>
              </a:extLst>
            </p:cNvPr>
            <p:cNvSpPr>
              <a:spLocks noChangeArrowheads="1"/>
            </p:cNvSpPr>
            <p:nvPr/>
          </p:nvSpPr>
          <p:spPr bwMode="auto">
            <a:xfrm>
              <a:off x="1371600" y="0"/>
              <a:ext cx="1051560" cy="2286000"/>
            </a:xfrm>
            <a:prstGeom prst="rect">
              <a:avLst/>
            </a:prstGeom>
            <a:solidFill>
              <a:srgbClr val="FFCF0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endParaRPr lang="en-IN"/>
            </a:p>
          </p:txBody>
        </p:sp>
        <p:sp>
          <p:nvSpPr>
            <p:cNvPr id="9" name="Text Box 8">
              <a:extLst>
                <a:ext uri="{FF2B5EF4-FFF2-40B4-BE49-F238E27FC236}">
                  <a16:creationId xmlns:a16="http://schemas.microsoft.com/office/drawing/2014/main" id="{5E29C338-D4A3-DA57-098F-F781E32512CC}"/>
                </a:ext>
              </a:extLst>
            </p:cNvPr>
            <p:cNvSpPr txBox="1">
              <a:spLocks noChangeArrowheads="1"/>
            </p:cNvSpPr>
            <p:nvPr/>
          </p:nvSpPr>
          <p:spPr bwMode="auto">
            <a:xfrm>
              <a:off x="1463040" y="365813"/>
              <a:ext cx="914908" cy="340614"/>
            </a:xfrm>
            <a:prstGeom prst="rect">
              <a:avLst/>
            </a:prstGeom>
            <a:solidFill>
              <a:srgbClr val="FFCF0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1100">
                  <a:solidFill>
                    <a:srgbClr val="000000"/>
                  </a:solidFill>
                  <a:effectLst/>
                  <a:latin typeface="Calibri" panose="020F0502020204030204" pitchFamily="34" charset="0"/>
                  <a:ea typeface="Calibri" panose="020F0502020204030204" pitchFamily="34" charset="0"/>
                  <a:cs typeface="Arial" panose="020B0604020202020204" pitchFamily="34" charset="0"/>
                </a:rPr>
                <a:t>EXTRACT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9">
              <a:extLst>
                <a:ext uri="{FF2B5EF4-FFF2-40B4-BE49-F238E27FC236}">
                  <a16:creationId xmlns:a16="http://schemas.microsoft.com/office/drawing/2014/main" id="{36335FED-88B8-970D-8F94-C96E143A5863}"/>
                </a:ext>
              </a:extLst>
            </p:cNvPr>
            <p:cNvSpPr txBox="1">
              <a:spLocks noChangeArrowheads="1"/>
            </p:cNvSpPr>
            <p:nvPr/>
          </p:nvSpPr>
          <p:spPr bwMode="auto">
            <a:xfrm>
              <a:off x="1371600" y="960093"/>
              <a:ext cx="1052068" cy="340614"/>
            </a:xfrm>
            <a:prstGeom prst="rect">
              <a:avLst/>
            </a:prstGeom>
            <a:solidFill>
              <a:srgbClr val="FFCF0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1100">
                  <a:solidFill>
                    <a:srgbClr val="000000"/>
                  </a:solidFill>
                  <a:effectLst/>
                  <a:latin typeface="Calibri" panose="020F0502020204030204" pitchFamily="34" charset="0"/>
                  <a:ea typeface="Calibri" panose="020F0502020204030204" pitchFamily="34" charset="0"/>
                  <a:cs typeface="Arial" panose="020B0604020202020204" pitchFamily="34" charset="0"/>
                </a:rPr>
                <a:t>TRANSFORM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10">
              <a:extLst>
                <a:ext uri="{FF2B5EF4-FFF2-40B4-BE49-F238E27FC236}">
                  <a16:creationId xmlns:a16="http://schemas.microsoft.com/office/drawing/2014/main" id="{A6706D70-B806-7240-ABA1-DE0198CC677C}"/>
                </a:ext>
              </a:extLst>
            </p:cNvPr>
            <p:cNvSpPr txBox="1">
              <a:spLocks noChangeArrowheads="1"/>
            </p:cNvSpPr>
            <p:nvPr/>
          </p:nvSpPr>
          <p:spPr bwMode="auto">
            <a:xfrm>
              <a:off x="1417320" y="1554373"/>
              <a:ext cx="960628" cy="340614"/>
            </a:xfrm>
            <a:prstGeom prst="rect">
              <a:avLst/>
            </a:prstGeom>
            <a:solidFill>
              <a:srgbClr val="FFCF0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1100">
                  <a:solidFill>
                    <a:srgbClr val="000000"/>
                  </a:solidFill>
                  <a:effectLst/>
                  <a:latin typeface="Calibri" panose="020F0502020204030204" pitchFamily="34" charset="0"/>
                  <a:ea typeface="Calibri" panose="020F0502020204030204" pitchFamily="34" charset="0"/>
                  <a:cs typeface="Arial" panose="020B0604020202020204" pitchFamily="34" charset="0"/>
                </a:rPr>
                <a:t>LOAD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AutoShape 11">
              <a:extLst>
                <a:ext uri="{FF2B5EF4-FFF2-40B4-BE49-F238E27FC236}">
                  <a16:creationId xmlns:a16="http://schemas.microsoft.com/office/drawing/2014/main" id="{44F4F89B-2F94-95F4-937A-E12BF38FE12D}"/>
                </a:ext>
              </a:extLst>
            </p:cNvPr>
            <p:cNvSpPr>
              <a:spLocks noChangeArrowheads="1"/>
            </p:cNvSpPr>
            <p:nvPr/>
          </p:nvSpPr>
          <p:spPr bwMode="auto">
            <a:xfrm>
              <a:off x="2697480" y="320031"/>
              <a:ext cx="731520" cy="1645938"/>
            </a:xfrm>
            <a:prstGeom prst="flowChartMagneticDisk">
              <a:avLst/>
            </a:prstGeom>
            <a:solidFill>
              <a:srgbClr val="FF99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endParaRPr lang="en-IN"/>
            </a:p>
          </p:txBody>
        </p:sp>
        <p:sp>
          <p:nvSpPr>
            <p:cNvPr id="13" name="Text Box 12">
              <a:extLst>
                <a:ext uri="{FF2B5EF4-FFF2-40B4-BE49-F238E27FC236}">
                  <a16:creationId xmlns:a16="http://schemas.microsoft.com/office/drawing/2014/main" id="{685725C9-1168-768F-A414-9F0FD878C2A3}"/>
                </a:ext>
              </a:extLst>
            </p:cNvPr>
            <p:cNvSpPr txBox="1">
              <a:spLocks noChangeArrowheads="1"/>
            </p:cNvSpPr>
            <p:nvPr/>
          </p:nvSpPr>
          <p:spPr bwMode="auto">
            <a:xfrm>
              <a:off x="2697480" y="1005876"/>
              <a:ext cx="823468" cy="708279"/>
            </a:xfrm>
            <a:prstGeom prst="rect">
              <a:avLst/>
            </a:prstGeom>
            <a:noFill/>
            <a:ln>
              <a:noFill/>
            </a:ln>
            <a:effectLst/>
            <a:extLst>
              <a:ext uri="{909E8E84-426E-40DD-AFC4-6F175D3DCCD1}">
                <a14:hiddenFill xmlns:a14="http://schemas.microsoft.com/office/drawing/2010/main">
                  <a:solidFill>
                    <a:srgbClr val="3399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1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Data warehouse (Oracle)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13">
              <a:extLst>
                <a:ext uri="{FF2B5EF4-FFF2-40B4-BE49-F238E27FC236}">
                  <a16:creationId xmlns:a16="http://schemas.microsoft.com/office/drawing/2014/main" id="{049893BF-F3CF-CA65-A7BA-50F46EA495F3}"/>
                </a:ext>
              </a:extLst>
            </p:cNvPr>
            <p:cNvSpPr txBox="1">
              <a:spLocks noChangeArrowheads="1"/>
            </p:cNvSpPr>
            <p:nvPr/>
          </p:nvSpPr>
          <p:spPr bwMode="auto">
            <a:xfrm>
              <a:off x="4572000" y="960093"/>
              <a:ext cx="777748" cy="708279"/>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1100">
                  <a:solidFill>
                    <a:srgbClr val="000000"/>
                  </a:solidFill>
                  <a:effectLst/>
                  <a:latin typeface="Calibri" panose="020F0502020204030204" pitchFamily="34" charset="0"/>
                  <a:ea typeface="Calibri" panose="020F0502020204030204" pitchFamily="34" charset="0"/>
                  <a:cs typeface="Arial" panose="020B0604020202020204" pitchFamily="34" charset="0"/>
                </a:rPr>
                <a:t>Reports Based On Analysis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Oval 14">
              <a:extLst>
                <a:ext uri="{FF2B5EF4-FFF2-40B4-BE49-F238E27FC236}">
                  <a16:creationId xmlns:a16="http://schemas.microsoft.com/office/drawing/2014/main" id="{561BDA79-CB85-B67F-4107-19E0379844A7}"/>
                </a:ext>
              </a:extLst>
            </p:cNvPr>
            <p:cNvSpPr>
              <a:spLocks noChangeArrowheads="1"/>
            </p:cNvSpPr>
            <p:nvPr/>
          </p:nvSpPr>
          <p:spPr bwMode="auto">
            <a:xfrm>
              <a:off x="3611880" y="114233"/>
              <a:ext cx="640080" cy="1965969"/>
            </a:xfrm>
            <a:prstGeom prst="ellipse">
              <a:avLst/>
            </a:prstGeom>
            <a:solidFill>
              <a:srgbClr val="00E4A8"/>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none" lIns="91440" tIns="45720" rIns="91440" bIns="45720" anchor="ctr" anchorCtr="0" upright="1">
              <a:noAutofit/>
            </a:bodyPr>
            <a:lstStyle/>
            <a:p>
              <a:endParaRPr lang="en-IN"/>
            </a:p>
          </p:txBody>
        </p:sp>
        <p:sp>
          <p:nvSpPr>
            <p:cNvPr id="16" name="Text Box 15">
              <a:extLst>
                <a:ext uri="{FF2B5EF4-FFF2-40B4-BE49-F238E27FC236}">
                  <a16:creationId xmlns:a16="http://schemas.microsoft.com/office/drawing/2014/main" id="{0B02AAA3-BD05-69F1-75A2-5BA32D67C50D}"/>
                </a:ext>
              </a:extLst>
            </p:cNvPr>
            <p:cNvSpPr txBox="1">
              <a:spLocks noChangeArrowheads="1"/>
            </p:cNvSpPr>
            <p:nvPr/>
          </p:nvSpPr>
          <p:spPr bwMode="auto">
            <a:xfrm>
              <a:off x="3840480" y="384048"/>
              <a:ext cx="229108" cy="1103814"/>
            </a:xfrm>
            <a:prstGeom prst="rect">
              <a:avLst/>
            </a:prstGeom>
            <a:solidFill>
              <a:srgbClr val="00E4A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1C1C1C"/>
                    </a:outerShdw>
                  </a:effectLst>
                </a14:hiddenEffects>
              </a:ext>
            </a:extLst>
          </p:spPr>
          <p:txBody>
            <a:bodyPr rot="0" vert="horz" wrap="square" lIns="54864" tIns="27432" rIns="54864" bIns="27432" anchor="t" anchorCtr="0" upright="1">
              <a:noAutofit/>
            </a:bodyPr>
            <a:lstStyle/>
            <a:p>
              <a:pPr>
                <a:lnSpc>
                  <a:spcPct val="107000"/>
                </a:lnSpc>
                <a:spcAft>
                  <a:spcPts val="800"/>
                </a:spcAft>
                <a:buNone/>
              </a:pPr>
              <a:r>
                <a:rPr lang="en-US" sz="1100">
                  <a:solidFill>
                    <a:srgbClr val="000000"/>
                  </a:solidFill>
                  <a:effectLst/>
                  <a:latin typeface="Calibri" panose="020F0502020204030204" pitchFamily="34" charset="0"/>
                  <a:ea typeface="Calibri" panose="020F0502020204030204" pitchFamily="34" charset="0"/>
                  <a:cs typeface="Arial" panose="020B0604020202020204" pitchFamily="34" charset="0"/>
                </a:rPr>
                <a:t>REPORT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7" name="Line 16">
              <a:extLst>
                <a:ext uri="{FF2B5EF4-FFF2-40B4-BE49-F238E27FC236}">
                  <a16:creationId xmlns:a16="http://schemas.microsoft.com/office/drawing/2014/main" id="{96BAF389-4068-DB0B-667D-1DCE7C822999}"/>
                </a:ext>
              </a:extLst>
            </p:cNvPr>
            <p:cNvCxnSpPr>
              <a:cxnSpLocks noChangeShapeType="1"/>
            </p:cNvCxnSpPr>
            <p:nvPr/>
          </p:nvCxnSpPr>
          <p:spPr bwMode="auto">
            <a:xfrm>
              <a:off x="1143000" y="1051658"/>
              <a:ext cx="2286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cxnSp>
        <p:cxnSp>
          <p:nvCxnSpPr>
            <p:cNvPr id="18" name="Line 17">
              <a:extLst>
                <a:ext uri="{FF2B5EF4-FFF2-40B4-BE49-F238E27FC236}">
                  <a16:creationId xmlns:a16="http://schemas.microsoft.com/office/drawing/2014/main" id="{31BFE165-5430-5009-C7E9-D81FBFF099FA}"/>
                </a:ext>
              </a:extLst>
            </p:cNvPr>
            <p:cNvCxnSpPr>
              <a:cxnSpLocks noChangeShapeType="1"/>
            </p:cNvCxnSpPr>
            <p:nvPr/>
          </p:nvCxnSpPr>
          <p:spPr bwMode="auto">
            <a:xfrm>
              <a:off x="2468880" y="1051658"/>
              <a:ext cx="18288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cxnSp>
        <p:cxnSp>
          <p:nvCxnSpPr>
            <p:cNvPr id="19" name="Line 18">
              <a:extLst>
                <a:ext uri="{FF2B5EF4-FFF2-40B4-BE49-F238E27FC236}">
                  <a16:creationId xmlns:a16="http://schemas.microsoft.com/office/drawing/2014/main" id="{6821A8E1-00DA-1292-AAB1-443BE9727D56}"/>
                </a:ext>
              </a:extLst>
            </p:cNvPr>
            <p:cNvCxnSpPr>
              <a:cxnSpLocks noChangeShapeType="1"/>
            </p:cNvCxnSpPr>
            <p:nvPr/>
          </p:nvCxnSpPr>
          <p:spPr bwMode="auto">
            <a:xfrm>
              <a:off x="3429000" y="1097440"/>
              <a:ext cx="18288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cxnSp>
        <p:cxnSp>
          <p:nvCxnSpPr>
            <p:cNvPr id="20" name="Line 19">
              <a:extLst>
                <a:ext uri="{FF2B5EF4-FFF2-40B4-BE49-F238E27FC236}">
                  <a16:creationId xmlns:a16="http://schemas.microsoft.com/office/drawing/2014/main" id="{8AA64FDC-E5BB-1D16-F3D9-37E4A27DA121}"/>
                </a:ext>
              </a:extLst>
            </p:cNvPr>
            <p:cNvCxnSpPr>
              <a:cxnSpLocks noChangeShapeType="1"/>
            </p:cNvCxnSpPr>
            <p:nvPr/>
          </p:nvCxnSpPr>
          <p:spPr bwMode="auto">
            <a:xfrm>
              <a:off x="4251960" y="1051658"/>
              <a:ext cx="27432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cxnSp>
        <p:sp>
          <p:nvSpPr>
            <p:cNvPr id="21" name="Text Box 20">
              <a:extLst>
                <a:ext uri="{FF2B5EF4-FFF2-40B4-BE49-F238E27FC236}">
                  <a16:creationId xmlns:a16="http://schemas.microsoft.com/office/drawing/2014/main" id="{0DF24805-A074-0CFE-A3BE-CFC6BC8467D4}"/>
                </a:ext>
              </a:extLst>
            </p:cNvPr>
            <p:cNvSpPr txBox="1">
              <a:spLocks noChangeArrowheads="1"/>
            </p:cNvSpPr>
            <p:nvPr/>
          </p:nvSpPr>
          <p:spPr bwMode="auto">
            <a:xfrm>
              <a:off x="1325880" y="1910852"/>
              <a:ext cx="1097788" cy="340614"/>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1100">
                  <a:solidFill>
                    <a:srgbClr val="000000"/>
                  </a:solidFill>
                  <a:effectLst/>
                  <a:latin typeface="Calibri" panose="020F0502020204030204" pitchFamily="34" charset="0"/>
                  <a:ea typeface="Calibri" panose="020F0502020204030204" pitchFamily="34" charset="0"/>
                  <a:cs typeface="Arial" panose="020B0604020202020204" pitchFamily="34"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 Box 21">
              <a:extLst>
                <a:ext uri="{FF2B5EF4-FFF2-40B4-BE49-F238E27FC236}">
                  <a16:creationId xmlns:a16="http://schemas.microsoft.com/office/drawing/2014/main" id="{FFBC6158-EE56-7B9D-DEE5-F1F5C46F05C4}"/>
                </a:ext>
              </a:extLst>
            </p:cNvPr>
            <p:cNvSpPr txBox="1">
              <a:spLocks noChangeArrowheads="1"/>
            </p:cNvSpPr>
            <p:nvPr/>
          </p:nvSpPr>
          <p:spPr bwMode="auto">
            <a:xfrm>
              <a:off x="3703320" y="1724168"/>
              <a:ext cx="640588" cy="273304"/>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700">
                  <a:solidFill>
                    <a:srgbClr val="000000"/>
                  </a:solidFill>
                  <a:effectLst/>
                  <a:latin typeface="Calibri" panose="020F0502020204030204" pitchFamily="34" charset="0"/>
                  <a:ea typeface="Calibri" panose="020F0502020204030204" pitchFamily="34" charset="0"/>
                  <a:cs typeface="Arial" panose="020B0604020202020204" pitchFamily="34"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 Box 22">
              <a:extLst>
                <a:ext uri="{FF2B5EF4-FFF2-40B4-BE49-F238E27FC236}">
                  <a16:creationId xmlns:a16="http://schemas.microsoft.com/office/drawing/2014/main" id="{843827BB-A0CE-6F50-0CC9-8787E6C83E38}"/>
                </a:ext>
              </a:extLst>
            </p:cNvPr>
            <p:cNvSpPr txBox="1">
              <a:spLocks noChangeArrowheads="1"/>
            </p:cNvSpPr>
            <p:nvPr/>
          </p:nvSpPr>
          <p:spPr bwMode="auto">
            <a:xfrm>
              <a:off x="4526280" y="1601489"/>
              <a:ext cx="823468" cy="273304"/>
            </a:xfrm>
            <a:prstGeom prst="rect">
              <a:avLst/>
            </a:prstGeom>
            <a:noFill/>
            <a:ln>
              <a:noFill/>
            </a:ln>
            <a:effectLst/>
            <a:extLst>
              <a:ext uri="{909E8E84-426E-40DD-AFC4-6F175D3DCCD1}">
                <a14:hiddenFill xmlns:a14="http://schemas.microsoft.com/office/drawing/2010/main">
                  <a:solidFill>
                    <a:srgbClr val="00E4A8"/>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54864" tIns="27432" rIns="54864" bIns="27432" anchor="t" anchorCtr="0" upright="1">
              <a:spAutoFit/>
            </a:bodyPr>
            <a:lstStyle/>
            <a:p>
              <a:pPr>
                <a:lnSpc>
                  <a:spcPct val="107000"/>
                </a:lnSpc>
                <a:spcAft>
                  <a:spcPts val="800"/>
                </a:spcAft>
                <a:buNone/>
              </a:pPr>
              <a:r>
                <a:rPr lang="en-US" sz="700">
                  <a:solidFill>
                    <a:srgbClr val="000000"/>
                  </a:solidFill>
                  <a:effectLst/>
                  <a:latin typeface="Calibri" panose="020F0502020204030204" pitchFamily="34" charset="0"/>
                  <a:ea typeface="Calibri" panose="020F0502020204030204" pitchFamily="34" charset="0"/>
                  <a:cs typeface="Arial" panose="020B0604020202020204" pitchFamily="34" charset="0"/>
                </a:rPr>
                <a: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24" name="Rectangle 33">
            <a:extLst>
              <a:ext uri="{FF2B5EF4-FFF2-40B4-BE49-F238E27FC236}">
                <a16:creationId xmlns:a16="http://schemas.microsoft.com/office/drawing/2014/main" id="{0384CB30-3609-67A2-634E-DB94B435A2DC}"/>
              </a:ext>
            </a:extLst>
          </p:cNvPr>
          <p:cNvSpPr>
            <a:spLocks noChangeArrowheads="1"/>
          </p:cNvSpPr>
          <p:nvPr/>
        </p:nvSpPr>
        <p:spPr bwMode="auto">
          <a:xfrm>
            <a:off x="0" y="2743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441831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6B6B99-9240-4068-7C05-38E9874CAAD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JOBS &amp; REPORTS : FACT TABLE &amp; DIMENSION TABLES</a:t>
            </a:r>
          </a:p>
        </p:txBody>
      </p:sp>
      <p:pic>
        <p:nvPicPr>
          <p:cNvPr id="4" name="Content Placeholder 3">
            <a:extLst>
              <a:ext uri="{FF2B5EF4-FFF2-40B4-BE49-F238E27FC236}">
                <a16:creationId xmlns:a16="http://schemas.microsoft.com/office/drawing/2014/main" id="{C02A6388-C54C-9F01-C87D-87A28E32669D}"/>
              </a:ext>
            </a:extLst>
          </p:cNvPr>
          <p:cNvPicPr>
            <a:picLocks noGrp="1" noChangeAspect="1"/>
          </p:cNvPicPr>
          <p:nvPr>
            <p:ph idx="1"/>
          </p:nvPr>
        </p:nvPicPr>
        <p:blipFill>
          <a:blip r:embed="rId2"/>
          <a:stretch>
            <a:fillRect/>
          </a:stretch>
        </p:blipFill>
        <p:spPr>
          <a:xfrm>
            <a:off x="5812492" y="198304"/>
            <a:ext cx="4728879" cy="6433850"/>
          </a:xfrm>
          <a:prstGeom prst="rect">
            <a:avLst/>
          </a:prstGeom>
        </p:spPr>
      </p:pic>
    </p:spTree>
    <p:extLst>
      <p:ext uri="{BB962C8B-B14F-4D97-AF65-F5344CB8AC3E}">
        <p14:creationId xmlns:p14="http://schemas.microsoft.com/office/powerpoint/2010/main" val="1774325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9AA7-097A-4818-66EE-653B0AA4FA8C}"/>
              </a:ext>
            </a:extLst>
          </p:cNvPr>
          <p:cNvSpPr>
            <a:spLocks noGrp="1"/>
          </p:cNvSpPr>
          <p:nvPr>
            <p:ph type="title"/>
          </p:nvPr>
        </p:nvSpPr>
        <p:spPr/>
        <p:txBody>
          <a:bodyPr>
            <a:normAutofit/>
          </a:bodyPr>
          <a:lstStyle/>
          <a:p>
            <a:r>
              <a:rPr lang="en-IN" sz="2800" dirty="0"/>
              <a:t>1. </a:t>
            </a:r>
            <a:r>
              <a:rPr lang="en-US" sz="2800" dirty="0"/>
              <a:t>Doughnut chart representation for count of Restaurant city wise</a:t>
            </a:r>
            <a:r>
              <a:rPr lang="en-IN" sz="2800" dirty="0"/>
              <a:t> </a:t>
            </a:r>
          </a:p>
        </p:txBody>
      </p:sp>
      <p:pic>
        <p:nvPicPr>
          <p:cNvPr id="4098" name="Picture 2">
            <a:extLst>
              <a:ext uri="{FF2B5EF4-FFF2-40B4-BE49-F238E27FC236}">
                <a16:creationId xmlns:a16="http://schemas.microsoft.com/office/drawing/2014/main" id="{7DEF4489-F8BA-1C94-85AC-46BE7751E16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732" y="2715768"/>
            <a:ext cx="5037192" cy="154990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05513A22-5BC8-4414-F6D1-945E896896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8924" y="1622497"/>
            <a:ext cx="6907805" cy="3159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580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F5113-8328-5A90-CF50-42E0F7972E0F}"/>
              </a:ext>
            </a:extLst>
          </p:cNvPr>
          <p:cNvSpPr>
            <a:spLocks noGrp="1"/>
          </p:cNvSpPr>
          <p:nvPr>
            <p:ph type="title"/>
          </p:nvPr>
        </p:nvSpPr>
        <p:spPr/>
        <p:txBody>
          <a:bodyPr>
            <a:normAutofit/>
          </a:bodyPr>
          <a:lstStyle/>
          <a:p>
            <a:r>
              <a:rPr lang="en-IN" sz="3200" dirty="0"/>
              <a:t>2. </a:t>
            </a:r>
            <a:r>
              <a:rPr lang="en-US" sz="3200" dirty="0"/>
              <a:t>Top Restaurant based on Rating City wise</a:t>
            </a:r>
            <a:endParaRPr lang="en-IN" sz="3200" dirty="0"/>
          </a:p>
        </p:txBody>
      </p:sp>
      <p:pic>
        <p:nvPicPr>
          <p:cNvPr id="5122" name="Picture 2">
            <a:extLst>
              <a:ext uri="{FF2B5EF4-FFF2-40B4-BE49-F238E27FC236}">
                <a16:creationId xmlns:a16="http://schemas.microsoft.com/office/drawing/2014/main" id="{BE045C6A-A37F-18AC-E897-B1EACAC07E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167057"/>
            <a:ext cx="4945655" cy="278666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2BA6FA87-BBA7-0DC4-B56F-F97FE584BC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518171"/>
            <a:ext cx="5548829" cy="3435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1050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415BA-F3BC-983C-053F-A0B8EE718078}"/>
              </a:ext>
            </a:extLst>
          </p:cNvPr>
          <p:cNvSpPr>
            <a:spLocks noGrp="1"/>
          </p:cNvSpPr>
          <p:nvPr>
            <p:ph type="title"/>
          </p:nvPr>
        </p:nvSpPr>
        <p:spPr/>
        <p:txBody>
          <a:bodyPr>
            <a:normAutofit/>
          </a:bodyPr>
          <a:lstStyle/>
          <a:p>
            <a:r>
              <a:rPr lang="en-US" sz="3200" dirty="0"/>
              <a:t>3. Avg Restaurant’s Rating based on City &amp; Locality</a:t>
            </a:r>
            <a:endParaRPr lang="en-IN" sz="3200" dirty="0"/>
          </a:p>
        </p:txBody>
      </p:sp>
      <p:pic>
        <p:nvPicPr>
          <p:cNvPr id="6148" name="Picture 4">
            <a:extLst>
              <a:ext uri="{FF2B5EF4-FFF2-40B4-BE49-F238E27FC236}">
                <a16:creationId xmlns:a16="http://schemas.microsoft.com/office/drawing/2014/main" id="{6A4FBFA9-C243-A480-6859-C828706782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1210" y="1519603"/>
            <a:ext cx="6299041" cy="381879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7D75979-2274-79DF-4176-69CE93BA584F}"/>
              </a:ext>
            </a:extLst>
          </p:cNvPr>
          <p:cNvSpPr>
            <a:spLocks noGrp="1"/>
          </p:cNvSpPr>
          <p:nvPr>
            <p:ph idx="1"/>
          </p:nvPr>
        </p:nvSpPr>
        <p:spPr/>
        <p:txBody>
          <a:bodyPr/>
          <a:lstStyle/>
          <a:p>
            <a:endParaRPr lang="en-IN" dirty="0"/>
          </a:p>
        </p:txBody>
      </p:sp>
      <p:pic>
        <p:nvPicPr>
          <p:cNvPr id="1026" name="Picture 2">
            <a:extLst>
              <a:ext uri="{FF2B5EF4-FFF2-40B4-BE49-F238E27FC236}">
                <a16:creationId xmlns:a16="http://schemas.microsoft.com/office/drawing/2014/main" id="{1B2EE4E8-8F53-F300-64F5-0799487C2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6" y="1927755"/>
            <a:ext cx="5543804" cy="2986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476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54E7D-53A6-098A-3BE2-44CE15493FEB}"/>
              </a:ext>
            </a:extLst>
          </p:cNvPr>
          <p:cNvSpPr>
            <a:spLocks noGrp="1"/>
          </p:cNvSpPr>
          <p:nvPr>
            <p:ph type="title"/>
          </p:nvPr>
        </p:nvSpPr>
        <p:spPr/>
        <p:txBody>
          <a:bodyPr>
            <a:normAutofit/>
          </a:bodyPr>
          <a:lstStyle/>
          <a:p>
            <a:r>
              <a:rPr lang="en-US" sz="3200" dirty="0"/>
              <a:t>4. Rating based on delivery availability City wise</a:t>
            </a:r>
            <a:endParaRPr lang="en-IN" sz="3200" dirty="0"/>
          </a:p>
        </p:txBody>
      </p:sp>
      <p:pic>
        <p:nvPicPr>
          <p:cNvPr id="7170" name="Picture 2">
            <a:extLst>
              <a:ext uri="{FF2B5EF4-FFF2-40B4-BE49-F238E27FC236}">
                <a16:creationId xmlns:a16="http://schemas.microsoft.com/office/drawing/2014/main" id="{264B97EB-00F1-1CA1-AAF4-88403B3DAC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791843"/>
            <a:ext cx="5364911" cy="295740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179A98C4-16CA-BCC5-C5CC-0AE8E4E021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4762" y="2208387"/>
            <a:ext cx="6687238" cy="2617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15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0AAD9-5BCB-7CAE-7B1C-6E430F184F15}"/>
              </a:ext>
            </a:extLst>
          </p:cNvPr>
          <p:cNvSpPr>
            <a:spLocks noGrp="1"/>
          </p:cNvSpPr>
          <p:nvPr>
            <p:ph type="title"/>
          </p:nvPr>
        </p:nvSpPr>
        <p:spPr/>
        <p:txBody>
          <a:bodyPr>
            <a:normAutofit/>
          </a:bodyPr>
          <a:lstStyle/>
          <a:p>
            <a:r>
              <a:rPr lang="en-US" sz="3200" dirty="0"/>
              <a:t>5. Minimum Rating &amp; Count of Restaurant based on Table Booking Availability</a:t>
            </a:r>
            <a:endParaRPr lang="en-IN" sz="3200" dirty="0"/>
          </a:p>
        </p:txBody>
      </p:sp>
      <p:pic>
        <p:nvPicPr>
          <p:cNvPr id="8194" name="Picture 2">
            <a:extLst>
              <a:ext uri="{FF2B5EF4-FFF2-40B4-BE49-F238E27FC236}">
                <a16:creationId xmlns:a16="http://schemas.microsoft.com/office/drawing/2014/main" id="{B45B2689-63F1-B453-7F0C-1C821658B0F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828" y="1829931"/>
            <a:ext cx="5383925" cy="290059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D45E097A-1856-6C4A-4276-9E32D1F64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5974" y="1395814"/>
            <a:ext cx="6610350" cy="3473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200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6FBB-04E9-8438-F8AB-54784C024117}"/>
              </a:ext>
            </a:extLst>
          </p:cNvPr>
          <p:cNvSpPr>
            <a:spLocks noGrp="1"/>
          </p:cNvSpPr>
          <p:nvPr>
            <p:ph type="title"/>
          </p:nvPr>
        </p:nvSpPr>
        <p:spPr/>
        <p:txBody>
          <a:bodyPr>
            <a:normAutofit/>
          </a:bodyPr>
          <a:lstStyle/>
          <a:p>
            <a:r>
              <a:rPr lang="en-US" sz="3200" dirty="0"/>
              <a:t>6. Avg cost for two based on Cuisine city wise</a:t>
            </a:r>
            <a:endParaRPr lang="en-IN" sz="3200" dirty="0"/>
          </a:p>
        </p:txBody>
      </p:sp>
      <p:pic>
        <p:nvPicPr>
          <p:cNvPr id="9220" name="Picture 4">
            <a:extLst>
              <a:ext uri="{FF2B5EF4-FFF2-40B4-BE49-F238E27FC236}">
                <a16:creationId xmlns:a16="http://schemas.microsoft.com/office/drawing/2014/main" id="{398348FF-E099-6F3D-B567-BB768BB87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8968" y="1532027"/>
            <a:ext cx="6626646" cy="3039974"/>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32C6CACC-3B5F-13FA-66DC-235D3E4151C3}"/>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607A6570-1C0B-9957-8ADD-162CBF84F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1825625"/>
            <a:ext cx="5316088" cy="2576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588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5907-312F-D893-51D8-43781A274AE5}"/>
              </a:ext>
            </a:extLst>
          </p:cNvPr>
          <p:cNvSpPr>
            <a:spLocks noGrp="1"/>
          </p:cNvSpPr>
          <p:nvPr>
            <p:ph type="title"/>
          </p:nvPr>
        </p:nvSpPr>
        <p:spPr/>
        <p:txBody>
          <a:bodyPr>
            <a:normAutofit/>
          </a:bodyPr>
          <a:lstStyle/>
          <a:p>
            <a:r>
              <a:rPr lang="en-US" sz="3200" dirty="0"/>
              <a:t>7. Top 10 Restaurants based on Avg cost for two, Avg price range and Avg vote</a:t>
            </a:r>
            <a:endParaRPr lang="en-IN" sz="3200" dirty="0"/>
          </a:p>
        </p:txBody>
      </p:sp>
      <p:pic>
        <p:nvPicPr>
          <p:cNvPr id="10242" name="Picture 2">
            <a:extLst>
              <a:ext uri="{FF2B5EF4-FFF2-40B4-BE49-F238E27FC236}">
                <a16:creationId xmlns:a16="http://schemas.microsoft.com/office/drawing/2014/main" id="{3C47477E-7908-A9B1-63DA-1CB5CAC5C7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373" y="1935793"/>
            <a:ext cx="5144567" cy="282611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68B9AB06-51B7-9F50-5FD0-E2174D1AB2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2940" y="2110096"/>
            <a:ext cx="6830687" cy="2637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2559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CEE66A-E35E-E8EC-21FE-2292C01B3B80}"/>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sz="6600" b="1" kern="1200">
                <a:solidFill>
                  <a:schemeClr val="tx1"/>
                </a:solidFill>
                <a:latin typeface="+mj-lt"/>
                <a:ea typeface="+mj-ea"/>
                <a:cs typeface="+mj-cs"/>
              </a:rPr>
              <a:t>THANK YOU</a:t>
            </a:r>
          </a:p>
        </p:txBody>
      </p:sp>
    </p:spTree>
    <p:extLst>
      <p:ext uri="{BB962C8B-B14F-4D97-AF65-F5344CB8AC3E}">
        <p14:creationId xmlns:p14="http://schemas.microsoft.com/office/powerpoint/2010/main" val="571676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841</TotalTime>
  <Words>302</Words>
  <Application>Microsoft Office PowerPoint</Application>
  <PresentationFormat>Widescreen</PresentationFormat>
  <Paragraphs>38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  BI Mini Project Zomato Restaurant Rating Analysis</vt:lpstr>
      <vt:lpstr>Objective of the Project</vt:lpstr>
      <vt:lpstr>Abstract of the Project</vt:lpstr>
      <vt:lpstr>Technology Used</vt:lpstr>
      <vt:lpstr>PowerPoint Presentation</vt:lpstr>
      <vt:lpstr>JOBS &amp; REPORTS : FACT TABLE &amp; DIMENSION TABLES</vt:lpstr>
      <vt:lpstr>1. Doughnut chart representation for count of Restaurant city wise </vt:lpstr>
      <vt:lpstr>2. Top Restaurant based on Rating City wise</vt:lpstr>
      <vt:lpstr>3. Avg Restaurant’s Rating based on City &amp; Locality</vt:lpstr>
      <vt:lpstr>4. Rating based on delivery availability City wise</vt:lpstr>
      <vt:lpstr>5. Minimum Rating &amp; Count of Restaurant based on Table Booking Availability</vt:lpstr>
      <vt:lpstr>6. Avg cost for two based on Cuisine city wise</vt:lpstr>
      <vt:lpstr>7. Top 10 Restaurants based on Avg cost for two, Avg price range and Avg vote</vt:lpstr>
      <vt:lpstr>THANK YOU</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Dhal, Sampriti</dc:creator>
  <cp:lastModifiedBy>Dhal, Sampriti</cp:lastModifiedBy>
  <cp:revision>6</cp:revision>
  <dcterms:created xsi:type="dcterms:W3CDTF">2026-02-18T11:23:55Z</dcterms:created>
  <dcterms:modified xsi:type="dcterms:W3CDTF">2026-02-19T15:54:03Z</dcterms:modified>
</cp:coreProperties>
</file>